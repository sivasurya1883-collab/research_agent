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72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73152" cy="4114800"/>
          </a:xfrm>
          <a:prstGeom prst="rect">
            <a:avLst/>
          </a:prstGeom>
          <a:solidFill>
            <a:srgbClr val="58C3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58C3F8"/>
                </a:solidFill>
              </a:rPr>
              <a:t>MERIDIAN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Autonomous Agentic AI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AC8"/>
                </a:solidFill>
              </a:rPr>
              <a:t>Equity Research  ·  Business Observability  ·  M&amp;A Control Tower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3C689"/>
                </a:solidFill>
              </a:rPr>
              <a:t>Demo  |  October 2026  |  TCS GenAI Lab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2011680"/>
            <a:ext cx="3017520" cy="365760"/>
          </a:xfrm>
          <a:prstGeom prst="rect">
            <a:avLst/>
          </a:prstGeom>
          <a:solidFill>
            <a:srgbClr val="18202F"/>
          </a:solidFill>
          <a:ln w="12700">
            <a:solidFill>
              <a:srgbClr val="DC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202996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C7DE5"/>
                </a:solidFill>
              </a:rPr>
              <a:t>gemini-2.5-pro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2514600"/>
            <a:ext cx="3017520" cy="365760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253288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8C3F8"/>
                </a:solidFill>
              </a:rPr>
              <a:t>LangGraph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3017520"/>
            <a:ext cx="3017520" cy="365760"/>
          </a:xfrm>
          <a:prstGeom prst="rect">
            <a:avLst/>
          </a:prstGeom>
          <a:solidFill>
            <a:srgbClr val="18202F"/>
          </a:solidFill>
          <a:ln w="12700">
            <a:solidFill>
              <a:srgbClr val="D3C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303580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3C689"/>
                </a:solidFill>
              </a:rPr>
              <a:t>FastAPI + Next.js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7D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577840" cy="1005840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C3F8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5331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7830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What analysts and ops teams struggle with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5577840" cy="1005840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8775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C3F8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8775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Solution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MERIDIAN's dual-product AI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5577840" cy="1005840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822191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C3F8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22191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MERIDIAN Analyst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251959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Equity research automation with 4-agent swarm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83480"/>
            <a:ext cx="5577840" cy="1005840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0566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C3F8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05663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Hub Ride – Business Observability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4864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Incident management &amp; M&amp;A control tower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280160"/>
            <a:ext cx="5577840" cy="1005840"/>
          </a:xfrm>
          <a:prstGeom prst="rect">
            <a:avLst/>
          </a:prstGeom>
          <a:solidFill>
            <a:srgbClr val="18202F"/>
          </a:solidFill>
          <a:ln w="12700">
            <a:solidFill>
              <a:srgbClr val="DC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3533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7DE5"/>
                </a:solidFill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135331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Architecture Deep-Dive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17830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Tech stack, data flow and multi-agent orchestration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514600"/>
            <a:ext cx="5577840" cy="1005840"/>
          </a:xfrm>
          <a:prstGeom prst="rect">
            <a:avLst/>
          </a:prstGeom>
          <a:solidFill>
            <a:srgbClr val="18202F"/>
          </a:solidFill>
          <a:ln w="12700">
            <a:solidFill>
              <a:srgbClr val="DC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58775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7DE5"/>
                </a:solidFill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58775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Live Demo Walkthrough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017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End-to-end demo of both products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749039"/>
            <a:ext cx="5577840" cy="1005840"/>
          </a:xfrm>
          <a:prstGeom prst="rect">
            <a:avLst/>
          </a:prstGeom>
          <a:solidFill>
            <a:srgbClr val="18202F"/>
          </a:solidFill>
          <a:ln w="12700">
            <a:solidFill>
              <a:srgbClr val="DC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822191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7DE5"/>
                </a:solidFill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822191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Key Benefits &amp; ROI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4251959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Speed, accuracy and institutional-grade outputs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983480"/>
            <a:ext cx="5577840" cy="1005840"/>
          </a:xfrm>
          <a:prstGeom prst="rect">
            <a:avLst/>
          </a:prstGeom>
          <a:solidFill>
            <a:srgbClr val="18202F"/>
          </a:solidFill>
          <a:ln w="12700">
            <a:solidFill>
              <a:srgbClr val="DC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50566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7DE5"/>
                </a:solidFill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505663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54864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Roadmap, pricing and call-to-action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8717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AC8"/>
                </a:solidFill>
              </a:rPr>
              <a:t>Why the status quo is broken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577840" cy="5212080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8C3F8"/>
                </a:solidFill>
              </a:rPr>
              <a:t>🔬  Analyst 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4552" cy="18288"/>
          </a:xfrm>
          <a:prstGeom prst="rect">
            <a:avLst/>
          </a:prstGeom>
          <a:solidFill>
            <a:srgbClr val="58C3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8"/>
                </a:solidFill>
              </a:rPr>
              <a:t>▸  Manual equity research takes 3–5 days per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8"/>
                </a:solidFill>
              </a:rPr>
              <a:t>▸  Data scattered across SEC EDGAR, earnings calls, peer comps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8"/>
                </a:solidFill>
              </a:rPr>
              <a:t>▸  Inconsistent quality; key signals missed under time pressure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8"/>
                </a:solidFill>
              </a:rPr>
              <a:t>▸  High cost of institutional research teams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234440"/>
            <a:ext cx="5577840" cy="5212080"/>
          </a:xfrm>
          <a:prstGeom prst="rect">
            <a:avLst/>
          </a:prstGeom>
          <a:solidFill>
            <a:srgbClr val="18202F"/>
          </a:solidFill>
          <a:ln w="12700">
            <a:solidFill>
              <a:srgbClr val="DC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71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C7DE5"/>
                </a:solidFill>
              </a:rPr>
              <a:t>🏢  Operations &amp; M&amp;A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783080"/>
            <a:ext cx="11274552" cy="18288"/>
          </a:xfrm>
          <a:prstGeom prst="rect">
            <a:avLst/>
          </a:prstGeom>
          <a:solidFill>
            <a:srgbClr val="DC7D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8"/>
                </a:solidFill>
              </a:rPr>
              <a:t>▸  Incident management relies on siloed spreadsheets &amp; emails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260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8"/>
                </a:solidFill>
              </a:rPr>
              <a:t>▸  Approval chains are slow, manual and error-prone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9319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8"/>
                </a:solidFill>
              </a:rPr>
              <a:t>▸  No unified view across Jordan / Dana / Priya / M&amp;A personas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9377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8"/>
                </a:solidFill>
              </a:rPr>
              <a:t>▸  AI insights buried in chat tools; not embedded in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3C68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AC8"/>
                </a:solidFill>
              </a:rPr>
              <a:t>One platform — two powerful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94960" cy="5303520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8C3F8"/>
                </a:solidFill>
              </a:rPr>
              <a:t>MERIDIAN Analyst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3C689"/>
                </a:solidFill>
              </a:rPr>
              <a:t>Autonomous Equity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✦  Input: Investment thesis + ticker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62072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✦  4-agent swarm: SEC → Transcripts → Peer Comps →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83864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✦  Real-time data from FMP, Finnhub, SEC EDGAR, Tavily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05656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✦  Output: Bull/Bear memo + PDF/MD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27448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✦  LLM: gemini-2.5-pro via TCS GenAI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49240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✦  UI: Bento cockpit with live telemetry + wave chart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577840" cy="5303520"/>
          </a:xfrm>
          <a:prstGeom prst="rect">
            <a:avLst/>
          </a:prstGeom>
          <a:solidFill>
            <a:srgbClr val="18202F"/>
          </a:solidFill>
          <a:ln w="12700">
            <a:solidFill>
              <a:srgbClr val="DC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258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C7DE5"/>
                </a:solidFill>
              </a:rPr>
              <a:t>Hub Ride – Meridian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83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3C689"/>
                </a:solidFill>
              </a:rPr>
              <a:t>Business Observability &amp; M&amp;A Control Tower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8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✦  Role-based personas: Jordan, Dana, Priya, Marcus 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62072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✦  Incident management with AI-assisted dry-run &amp; approval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83864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✦  Meridian AI leaf assistant embedded per 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05656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✦  M&amp;A deal tracking with Pinecrest / Summit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727448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✦  FastAPI + SQLite + Next.js (Windows-native, no Docker)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4924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✦  LLM: gpt-4o / gemini-2.5-pro via TCS GenAI 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C3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MERIDIAN Analyst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AC8"/>
                </a:solidFill>
              </a:rPr>
              <a:t>Institutional-grade equity research in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737360" cy="1005840"/>
          </a:xfrm>
          <a:prstGeom prst="rect">
            <a:avLst/>
          </a:prstGeom>
          <a:solidFill>
            <a:srgbClr val="18202F"/>
          </a:solidFill>
          <a:ln w="12700">
            <a:solidFill>
              <a:srgbClr val="D3C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3C689"/>
                </a:solidFill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8308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C8"/>
                </a:solidFill>
              </a:rPr>
              <a:t>Thesis +
Ticker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21408" y="164592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8C3F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7712" y="1371600"/>
            <a:ext cx="1737360" cy="1005840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13432" y="14173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8C3F8"/>
                </a:solidFill>
              </a:rPr>
              <a:t>AGENT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3432" y="178308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C8"/>
                </a:solidFill>
              </a:rPr>
              <a:t>SEC EDGAR
10-K / 10-Q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64592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8C3F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9664" y="1371600"/>
            <a:ext cx="1737360" cy="1005840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15384" y="14173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8C3F8"/>
                </a:solidFill>
              </a:rPr>
              <a:t>AGENT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5384" y="178308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C8"/>
                </a:solidFill>
              </a:rPr>
              <a:t>Earnings
Transcripts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164592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8C3F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1616" y="1371600"/>
            <a:ext cx="1737360" cy="1005840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7336" y="14173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8C3F8"/>
                </a:solidFill>
              </a:rPr>
              <a:t>AGENT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7336" y="178308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C8"/>
                </a:solidFill>
              </a:rPr>
              <a:t>Peer Comps
&amp; 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4" y="164592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8C3F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73568" y="1371600"/>
            <a:ext cx="1737360" cy="1005840"/>
          </a:xfrm>
          <a:prstGeom prst="rect">
            <a:avLst/>
          </a:prstGeom>
          <a:solidFill>
            <a:srgbClr val="18202F"/>
          </a:solidFill>
          <a:ln w="12700">
            <a:solidFill>
              <a:srgbClr val="DC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9288" y="14173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7DE5"/>
                </a:solidFill>
              </a:rPr>
              <a:t>AGENT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178308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C8"/>
                </a:solidFill>
              </a:rPr>
              <a:t>Synthesis
&amp; Memo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9216" y="164592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8C3F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1371600"/>
            <a:ext cx="1737360" cy="1005840"/>
          </a:xfrm>
          <a:prstGeom prst="rect">
            <a:avLst/>
          </a:prstGeom>
          <a:solidFill>
            <a:srgbClr val="18202F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14173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178308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C8"/>
                </a:solidFill>
              </a:rPr>
              <a:t>Bull/Bear
PDF/MD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3C689"/>
                </a:solidFill>
              </a:rPr>
              <a:t>Data APIs: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2606040"/>
            <a:ext cx="2194560" cy="347472"/>
          </a:xfrm>
          <a:prstGeom prst="rect">
            <a:avLst/>
          </a:prstGeom>
          <a:solidFill>
            <a:srgbClr val="18202F"/>
          </a:solidFill>
          <a:ln w="12700">
            <a:solidFill>
              <a:srgbClr val="D3C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57400" y="262432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C689"/>
                </a:solidFill>
              </a:rPr>
              <a:t>data.sec.gov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2606040"/>
            <a:ext cx="2194560" cy="347472"/>
          </a:xfrm>
          <a:prstGeom prst="rect">
            <a:avLst/>
          </a:prstGeom>
          <a:solidFill>
            <a:srgbClr val="18202F"/>
          </a:solidFill>
          <a:ln w="12700">
            <a:solidFill>
              <a:srgbClr val="D3C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262432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C689"/>
                </a:solidFill>
              </a:rPr>
              <a:t>FMP /earning_call_transcript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2606040"/>
            <a:ext cx="2194560" cy="347472"/>
          </a:xfrm>
          <a:prstGeom prst="rect">
            <a:avLst/>
          </a:prstGeom>
          <a:solidFill>
            <a:srgbClr val="18202F"/>
          </a:solidFill>
          <a:ln w="12700">
            <a:solidFill>
              <a:srgbClr val="D3C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262432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C689"/>
                </a:solidFill>
              </a:rPr>
              <a:t>FMP Comps + Finnhub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6840" y="2606040"/>
            <a:ext cx="2194560" cy="347472"/>
          </a:xfrm>
          <a:prstGeom prst="rect">
            <a:avLst/>
          </a:prstGeom>
          <a:solidFill>
            <a:srgbClr val="18202F"/>
          </a:solidFill>
          <a:ln w="12700">
            <a:solidFill>
              <a:srgbClr val="D3C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59" y="262432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3C689"/>
                </a:solidFill>
              </a:rPr>
              <a:t>Tavily AI Search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3154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C3F8"/>
                </a:solidFill>
              </a:rPr>
              <a:t>UI / UX Highlights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35204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● Bento cockpit dashboard (#121721 canvas, glass cards)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35204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● Dual-curve financial wave chart with pill callouts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5204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● Bull vs. Bear catalyst cards (neon-pastel accents)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41148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● Markdown + Print/PDF one-click export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41148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● Live telemetry terminal logs during agent run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7D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Hub Ride — Business Observability &amp; M&amp;A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AC8"/>
                </a:solidFill>
              </a:rPr>
              <a:t>Role-aware incident management powered by Meridian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606040" cy="1645920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C3F8"/>
                </a:solidFill>
              </a:rPr>
              <a:t>Jordan Reyes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737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3C689"/>
                </a:solidFill>
              </a:rPr>
              <a:t>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0574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C8"/>
                </a:solidFill>
              </a:rPr>
              <a:t>Raises &amp; runs dry-run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606040" cy="1645920"/>
          </a:xfrm>
          <a:prstGeom prst="rect">
            <a:avLst/>
          </a:prstGeom>
          <a:solidFill>
            <a:srgbClr val="18202F"/>
          </a:solidFill>
          <a:ln w="12700">
            <a:solidFill>
              <a:srgbClr val="D3C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C689"/>
                </a:solidFill>
              </a:rPr>
              <a:t>Dana Whitfield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1737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3C689"/>
                </a:solidFill>
              </a:rPr>
              <a:t>Finance Approver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20574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C8"/>
                </a:solidFill>
              </a:rPr>
              <a:t>Reviews critical approvals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280160"/>
            <a:ext cx="2606040" cy="1645920"/>
          </a:xfrm>
          <a:prstGeom prst="rect">
            <a:avLst/>
          </a:prstGeom>
          <a:solidFill>
            <a:srgbClr val="18202F"/>
          </a:solidFill>
          <a:ln w="12700">
            <a:solidFill>
              <a:srgbClr val="DC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7DE5"/>
                </a:solidFill>
              </a:rPr>
              <a:t>Priya Nair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737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3C689"/>
                </a:solidFill>
              </a:rPr>
              <a:t>Legal /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20574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C8"/>
                </a:solidFill>
              </a:rPr>
              <a:t>Pinecrest / Summit 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280160"/>
            <a:ext cx="2606040" cy="1645920"/>
          </a:xfrm>
          <a:prstGeom prst="rect">
            <a:avLst/>
          </a:prstGeom>
          <a:solidFill>
            <a:srgbClr val="18202F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9408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</a:rPr>
              <a:t>Marcus Hale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8" y="1737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3C689"/>
                </a:solidFill>
              </a:rPr>
              <a:t>M&amp;A 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20574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C8"/>
                </a:solidFill>
              </a:rPr>
              <a:t>Deal control tower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063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C7DE5"/>
                </a:solidFill>
              </a:rPr>
              <a:t>Demo Flow — INC-2042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566160"/>
            <a:ext cx="2606040" cy="731520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3703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01  Sign in as Jordan Reyes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566160"/>
            <a:ext cx="2606040" cy="731520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0128" y="3703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02  Open INC-2042 (Incidents)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566160"/>
            <a:ext cx="2606040" cy="731520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3703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03  Run dry-run simulation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3566160"/>
            <a:ext cx="2606040" cy="731520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79408" y="3703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04  Submit for approval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480560"/>
            <a:ext cx="2606040" cy="731520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617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05  Dana sees Critical digest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4480560"/>
            <a:ext cx="2606040" cy="731520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10128" y="4617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06  Dana approves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4480560"/>
            <a:ext cx="2606040" cy="731520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4768" y="4617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07  Priya reviews Pinecrest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69680" y="4480560"/>
            <a:ext cx="2606040" cy="731520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79408" y="4617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08  Marcus — M&amp;A tower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532120"/>
            <a:ext cx="11430000" cy="960120"/>
          </a:xfrm>
          <a:prstGeom prst="rect">
            <a:avLst/>
          </a:prstGeom>
          <a:solidFill>
            <a:srgbClr val="18202F"/>
          </a:solidFill>
          <a:ln w="12700">
            <a:solidFill>
              <a:srgbClr val="DC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7DE5"/>
                </a:solidFill>
              </a:rPr>
              <a:t>🍃  Meridian AI Assistant  (Leaf Button)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943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Role-scoped AI Q&amp;A embedded per persona  •  read-only DB access  •  structured outputs with sources  •  approval + idempotency guards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3C68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Architecture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AC8"/>
                </a:solidFill>
              </a:rPr>
              <a:t>Multi-agent orchestration with enterprise-grade data pipelines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194560" cy="713232"/>
          </a:xfrm>
          <a:prstGeom prst="rect">
            <a:avLst/>
          </a:prstGeom>
          <a:solidFill>
            <a:srgbClr val="58C3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721"/>
                </a:solidFill>
              </a:rP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280160"/>
            <a:ext cx="9144000" cy="713232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1444752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8"/>
                </a:solidFill>
              </a:rPr>
              <a:t>Next.js App Router  ·  Tailwind CSS  ·  Hanken Grotesk + Unbounded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30552"/>
            <a:ext cx="2194560" cy="713232"/>
          </a:xfrm>
          <a:prstGeom prst="rect">
            <a:avLst/>
          </a:prstGeom>
          <a:solidFill>
            <a:srgbClr val="D3C68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2677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721"/>
                </a:solidFill>
              </a:rPr>
              <a:t>API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2130552"/>
            <a:ext cx="9144000" cy="713232"/>
          </a:xfrm>
          <a:prstGeom prst="rect">
            <a:avLst/>
          </a:prstGeom>
          <a:solidFill>
            <a:srgbClr val="18202F"/>
          </a:solidFill>
          <a:ln w="12700">
            <a:solidFill>
              <a:srgbClr val="D3C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2295144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8"/>
                </a:solidFill>
              </a:rPr>
              <a:t>FastAPI (uvicorn)  ·  SQLite (read-only agent connection)  ·  Port 8000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80944"/>
            <a:ext cx="2194560" cy="713232"/>
          </a:xfrm>
          <a:prstGeom prst="rect">
            <a:avLst/>
          </a:prstGeom>
          <a:solidFill>
            <a:srgbClr val="DC7D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11810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721"/>
                </a:solidFill>
              </a:rPr>
              <a:t>LangGraph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980944"/>
            <a:ext cx="9144000" cy="713232"/>
          </a:xfrm>
          <a:prstGeom prst="rect">
            <a:avLst/>
          </a:prstGeom>
          <a:solidFill>
            <a:srgbClr val="18202F"/>
          </a:solidFill>
          <a:ln w="12700">
            <a:solidFill>
              <a:srgbClr val="DC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3145536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8"/>
                </a:solidFill>
              </a:rPr>
              <a:t>Stateful multi-agent graph  ·  AgentState schema  ·  4-node 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31335"/>
            <a:ext cx="2194560" cy="713232"/>
          </a:xfrm>
          <a:prstGeom prst="rect">
            <a:avLst/>
          </a:prstGeom>
          <a:solidFill>
            <a:srgbClr val="4ADE8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968495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721"/>
                </a:solidFill>
              </a:rPr>
              <a:t>LLM Gateway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3831335"/>
            <a:ext cx="9144000" cy="713232"/>
          </a:xfrm>
          <a:prstGeom prst="rect">
            <a:avLst/>
          </a:prstGeom>
          <a:solidFill>
            <a:srgbClr val="18202F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3995927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8"/>
                </a:solidFill>
              </a:rPr>
              <a:t>TCS GenAI Lab  ·  https://genailab.tcs.in  ·  gemini-2.5-pro / gpt-4o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681728"/>
            <a:ext cx="2194560" cy="713232"/>
          </a:xfrm>
          <a:prstGeom prst="rect">
            <a:avLst/>
          </a:prstGeom>
          <a:solidFill>
            <a:srgbClr val="58C3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8188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721"/>
                </a:solidFill>
              </a:rPr>
              <a:t>Data APIs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4681728"/>
            <a:ext cx="9144000" cy="713232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4846320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8"/>
                </a:solidFill>
              </a:rPr>
              <a:t>SEC EDGAR  ·  FMP (Transcripts + Peers)  ·  Finnhub  ·  Tavily Search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532120"/>
            <a:ext cx="2194560" cy="713232"/>
          </a:xfrm>
          <a:prstGeom prst="rect">
            <a:avLst/>
          </a:prstGeom>
          <a:solidFill>
            <a:srgbClr val="F8717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669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721"/>
                </a:solidFill>
              </a:rPr>
              <a:t>Agent Guardrails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5532120"/>
            <a:ext cx="9144000" cy="713232"/>
          </a:xfrm>
          <a:prstGeom prst="rect">
            <a:avLst/>
          </a:prstGeom>
          <a:solidFill>
            <a:srgbClr val="18202F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696712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8"/>
                </a:solidFill>
              </a:rPr>
              <a:t>AgentScope contracts  ·  role-filtered queries  ·  no write on agent 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C3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Live 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AC8"/>
                </a:solidFill>
              </a:rPr>
              <a:t>Step-by-step guided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577840" cy="5257800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C3F8"/>
                </a:solidFill>
              </a:rPr>
              <a:t>Part A – MERIDIAN Analyst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74552" cy="18288"/>
          </a:xfrm>
          <a:prstGeom prst="rect">
            <a:avLst/>
          </a:prstGeom>
          <a:solidFill>
            <a:srgbClr val="58C3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1. Open index.html in browser (standalone prototype)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16352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2. Enter thesis: 'NVIDIA is undervalued based on AI compute demand'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12464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3. Watch 4-agent telemetry: SEC → Transcripts → Comps →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08576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4. Review Bento cockpit: metrics, dual-wave chart, Bull/Bear cards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04688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5. Export investment memo as PDF / Markdown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577840" cy="5257800"/>
          </a:xfrm>
          <a:prstGeom prst="rect">
            <a:avLst/>
          </a:prstGeom>
          <a:solidFill>
            <a:srgbClr val="18202F"/>
          </a:solidFill>
          <a:ln w="12700">
            <a:solidFill>
              <a:srgbClr val="DC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C7DE5"/>
                </a:solidFill>
              </a:rPr>
              <a:t>Part B – Hub Ride Business Observability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828800"/>
            <a:ext cx="11274552" cy="18288"/>
          </a:xfrm>
          <a:prstGeom prst="rect">
            <a:avLst/>
          </a:prstGeom>
          <a:solidFill>
            <a:srgbClr val="DC7D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1. make up  →  open http://localhost:3000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816352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2. Sign in as Jordan Reyes → Incidents → INC-2042 → Dry-run → Submit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12464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3. Sign in as Dana Whitfield → Critical digest → Open &amp; 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08576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4. Sign in as Priya Nair → Pinecrest M&amp;A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504688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5. Ask Meridian AI (leaf button) the suggested role questions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DE8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Benefits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AC8"/>
                </a:solidFill>
              </a:rPr>
              <a:t>Quantifiable outcomes for analysts and operations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2651760" cy="2011680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58C3F8"/>
                </a:solidFill>
              </a:rPr>
              <a:t>95%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Reduction in
research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C8"/>
                </a:solidFill>
              </a:rPr>
              <a:t>3–5 days →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34440"/>
            <a:ext cx="2651760" cy="2011680"/>
          </a:xfrm>
          <a:prstGeom prst="rect">
            <a:avLst/>
          </a:prstGeom>
          <a:solidFill>
            <a:srgbClr val="18202F"/>
          </a:solidFill>
          <a:ln w="12700">
            <a:solidFill>
              <a:srgbClr val="D3C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3716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D3C689"/>
                </a:solidFill>
              </a:rPr>
              <a:t>4x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Analyst throughput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651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C8"/>
                </a:solidFill>
              </a:rPr>
              <a:t>More coverage, less effort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234440"/>
            <a:ext cx="2651760" cy="2011680"/>
          </a:xfrm>
          <a:prstGeom prst="rect">
            <a:avLst/>
          </a:prstGeom>
          <a:solidFill>
            <a:srgbClr val="18202F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3716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4ADE80"/>
                </a:solidFill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Audit-trail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651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C8"/>
                </a:solidFill>
              </a:rPr>
              <a:t>Every agent decision logged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234440"/>
            <a:ext cx="2651760" cy="2011680"/>
          </a:xfrm>
          <a:prstGeom prst="rect">
            <a:avLst/>
          </a:prstGeom>
          <a:solidFill>
            <a:srgbClr val="18202F"/>
          </a:solidFill>
          <a:ln w="12700">
            <a:solidFill>
              <a:srgbClr val="DC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3716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DC7DE5"/>
                </a:solidFill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Manual data
copy-paste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651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C8"/>
                </a:solidFill>
              </a:rPr>
              <a:t>APIs + structured outputs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29000"/>
            <a:ext cx="5577840" cy="3063240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5478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C3F8"/>
                </a:solidFill>
              </a:rPr>
              <a:t>Analyst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77639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▸  Minutes to full institutional memo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44568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▸  Consistent structured outputs (Bull/Bear)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111496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▸  Real-time market data synthesis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678423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▸  PDF/Markdown export for compliance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429000"/>
            <a:ext cx="5577840" cy="3063240"/>
          </a:xfrm>
          <a:prstGeom prst="rect">
            <a:avLst/>
          </a:prstGeom>
          <a:solidFill>
            <a:srgbClr val="18202F"/>
          </a:solidFill>
          <a:ln w="12700">
            <a:solidFill>
              <a:srgbClr val="DC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5478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C7DE5"/>
                </a:solidFill>
              </a:rPr>
              <a:t>Hub Ride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977639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▸  Role-aware AI — no hallucinated authority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544568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▸  Idempotent approval flows prevent duplicates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11496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▸  Integrated Meridian AI — no context switching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678423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▸  Windows-native; runs in minutes with make 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C7D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Next Steps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AC8"/>
                </a:solidFill>
              </a:rPr>
              <a:t>Path to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657600" cy="5212080"/>
          </a:xfrm>
          <a:prstGeom prst="rect">
            <a:avLst/>
          </a:prstGeom>
          <a:solidFill>
            <a:srgbClr val="18202F"/>
          </a:solidFill>
          <a:ln w="12700">
            <a:solidFill>
              <a:srgbClr val="D3C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C689"/>
                </a:solidFill>
              </a:rPr>
              <a:t>Phase 1 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Base Build Complete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11274552" cy="18288"/>
          </a:xfrm>
          <a:prstGeom prst="rect">
            <a:avLst/>
          </a:prstGeom>
          <a:solidFill>
            <a:srgbClr val="D3C68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  •  Hub Ride personas &amp; INC workflow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  •  MERIDIAN Analyst Agent standalone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77639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  •  LangGraph orchestrator + 4 agents wired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234440"/>
            <a:ext cx="3657600" cy="5212080"/>
          </a:xfrm>
          <a:prstGeom prst="rect">
            <a:avLst/>
          </a:prstGeom>
          <a:solidFill>
            <a:srgbClr val="18202F"/>
          </a:solidFill>
          <a:ln w="12700">
            <a:solidFill>
              <a:srgbClr val="58C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25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C3F8"/>
                </a:solidFill>
              </a:rPr>
              <a:t>Phase 2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737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Production Hardening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48840"/>
            <a:ext cx="11274552" cy="18288"/>
          </a:xfrm>
          <a:prstGeom prst="rect">
            <a:avLst/>
          </a:prstGeom>
          <a:solidFill>
            <a:srgbClr val="58C3F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2402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  •  Full Next.js frontend for Analyst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108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  •  Azure deployment blueprint (TECHNICAL_ARCHITECTURE.md)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977639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  •  Playwright demo-video automation (BP-12)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8463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  •  Expanded agent guardrails + scope tests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234440"/>
            <a:ext cx="3657600" cy="5212080"/>
          </a:xfrm>
          <a:prstGeom prst="rect">
            <a:avLst/>
          </a:prstGeom>
          <a:solidFill>
            <a:srgbClr val="18202F"/>
          </a:solidFill>
          <a:ln w="12700">
            <a:solidFill>
              <a:srgbClr val="DC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325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7DE5"/>
                </a:solidFill>
              </a:rPr>
              <a:t>Phase 3 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1737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Enterprise Rollout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148840"/>
            <a:ext cx="11274552" cy="18288"/>
          </a:xfrm>
          <a:prstGeom prst="rect">
            <a:avLst/>
          </a:prstGeom>
          <a:solidFill>
            <a:srgbClr val="DC7D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22402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  •  Multi-tenant auth (Azure AD / SSO)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3108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  •  Advanced M&amp;A deal analytics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3977639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  •  Custom LLM fine-tuning on TCS domain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48463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  •  Real-time streaming telemetry (SSE/WebSocket)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6309360"/>
            <a:ext cx="11430000" cy="475488"/>
          </a:xfrm>
          <a:prstGeom prst="rect">
            <a:avLst/>
          </a:prstGeom>
          <a:solidFill>
            <a:srgbClr val="DC7D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33679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1721"/>
                </a:solidFill>
              </a:rPr>
              <a:t>Ready to explore?  →  make demo-check  |  open http://localhost:3000  |  Contact TCS GenAI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